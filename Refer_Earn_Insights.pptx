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Month-1 retention %</c:v>
                </c:pt>
              </c:strCache>
            </c:strRef>
          </c:tx>
          <c:spPr>
            <a:solidFill>
              <a:srgbClr val="2DD4BF"/>
            </a:solidFill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22.7</c:v>
                </c:pt>
                <c:pt idx="1">
                  <c:v>14.3</c:v>
                </c:pt>
                <c:pt idx="2">
                  <c:v>12.0</c:v>
                </c:pt>
                <c:pt idx="3">
                  <c:v>13.0</c:v>
                </c:pt>
                <c:pt idx="4">
                  <c:v>15.5</c:v>
                </c:pt>
                <c:pt idx="5">
                  <c:v>12.8</c:v>
                </c:pt>
                <c:pt idx="6">
                  <c:v>16.4</c:v>
                </c:pt>
                <c:pt idx="7">
                  <c:v>13.1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E8EC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45C"/>
            </a:solidFill>
          </a:ln>
        </c:spPr>
        <c:txPr>
          <a:bodyPr/>
          <a:lstStyle/>
          <a:p>
            <a:pPr>
              <a:defRPr sz="900">
                <a:solidFill>
                  <a:srgbClr val="9AA6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  <c:min val="0.0"/>
        </c:scaling>
        <c:delete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AA6C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8B7CF6"/>
            </a:solidFill>
          </c:spPr>
          <c:cat>
            <c:strRef>
              <c:f>Sheet1!$A$2:$A$7</c:f>
              <c:strCache>
                <c:ptCount val="6"/>
                <c:pt idx="0">
                  <c:v>Thiruvananthapuram</c:v>
                </c:pt>
                <c:pt idx="1">
                  <c:v>Palakkad</c:v>
                </c:pt>
                <c:pt idx="2">
                  <c:v>Ernakulam</c:v>
                </c:pt>
                <c:pt idx="3">
                  <c:v>Kannur</c:v>
                </c:pt>
                <c:pt idx="4">
                  <c:v>Malappuram</c:v>
                </c:pt>
                <c:pt idx="5">
                  <c:v>Kozhikode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3.5</c:v>
                </c:pt>
                <c:pt idx="2">
                  <c:v>3.6</c:v>
                </c:pt>
                <c:pt idx="3">
                  <c:v>6.9</c:v>
                </c:pt>
                <c:pt idx="4">
                  <c:v>11.7</c:v>
                </c:pt>
                <c:pt idx="5">
                  <c:v>54.3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E8EC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45C"/>
            </a:solidFill>
          </a:ln>
        </c:spPr>
        <c:txPr>
          <a:bodyPr/>
          <a:lstStyle/>
          <a:p>
            <a:pPr>
              <a:defRPr sz="900">
                <a:solidFill>
                  <a:srgbClr val="9AA6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8.0"/>
          <c:min val="0.0"/>
        </c:scaling>
        <c:delete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AA6C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F5B342"/>
            </a:solidFill>
          </c:spPr>
          <c:cat>
            <c:strRef>
              <c:f>Sheet1!$A$2:$A$8</c:f>
              <c:strCache>
                <c:ptCount val="7"/>
                <c:pt idx="0">
                  <c:v>0-16</c:v>
                </c:pt>
                <c:pt idx="1">
                  <c:v>17-20</c:v>
                </c:pt>
                <c:pt idx="2">
                  <c:v>21-25</c:v>
                </c:pt>
                <c:pt idx="3">
                  <c:v>26-30</c:v>
                </c:pt>
                <c:pt idx="4">
                  <c:v>31-40</c:v>
                </c:pt>
                <c:pt idx="5">
                  <c:v>41-50</c:v>
                </c:pt>
                <c:pt idx="6">
                  <c:v>51+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4.6</c:v>
                </c:pt>
                <c:pt idx="1">
                  <c:v>20.1</c:v>
                </c:pt>
                <c:pt idx="2">
                  <c:v>27.3</c:v>
                </c:pt>
                <c:pt idx="3">
                  <c:v>16.6</c:v>
                </c:pt>
                <c:pt idx="4">
                  <c:v>15.3</c:v>
                </c:pt>
                <c:pt idx="5">
                  <c:v>9.2</c:v>
                </c:pt>
                <c:pt idx="6">
                  <c:v>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E8EC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45C"/>
            </a:solidFill>
          </a:ln>
        </c:spPr>
        <c:txPr>
          <a:bodyPr/>
          <a:lstStyle/>
          <a:p>
            <a:pPr>
              <a:defRPr sz="900">
                <a:solidFill>
                  <a:srgbClr val="9AA6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AA6C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8ECF8"/>
                </a:solidFill>
                <a:latin typeface="Segoe UI"/>
              </a:rPr>
              <a:t>Programme Performance &amp; Customer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601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AA6C8"/>
                </a:solidFill>
                <a:latin typeface="Segoe UI"/>
              </a:rPr>
              <a:t>Live data from ClickHouse  |  Programme start 16 Jan 2026  to  5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918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6C8"/>
                </a:solidFill>
                <a:latin typeface="Segoe UI"/>
              </a:rPr>
              <a:t>REFER &amp; EARN  |  1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810512" cy="1051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81051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Segoe UI"/>
              </a:rPr>
              <a:t>99,796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6C8"/>
                </a:solidFill>
                <a:latin typeface="Segoe UI"/>
              </a:rPr>
              <a:t>Participants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188720"/>
            <a:ext cx="1810512" cy="1051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261872"/>
            <a:ext cx="181051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8B7CF6"/>
                </a:solidFill>
                <a:latin typeface="Segoe UI"/>
              </a:rPr>
              <a:t>28,407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1783080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6C8"/>
                </a:solidFill>
                <a:latin typeface="Segoe UI"/>
              </a:rPr>
              <a:t>Buyers  (28.5% of participants)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1188720"/>
            <a:ext cx="1810512" cy="1051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261872"/>
            <a:ext cx="181051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5B342"/>
                </a:solidFill>
                <a:latin typeface="Segoe UI"/>
              </a:rPr>
              <a:t>17.1M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783080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6C8"/>
                </a:solidFill>
                <a:latin typeface="Segoe UI"/>
              </a:rPr>
              <a:t>Points issued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188720"/>
            <a:ext cx="1810512" cy="1051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261872"/>
            <a:ext cx="181051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Segoe UI"/>
              </a:rPr>
              <a:t>10.9M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783080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6C8"/>
                </a:solidFill>
                <a:latin typeface="Segoe UI"/>
              </a:rPr>
              <a:t>Points redeemed  (64%)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188720"/>
            <a:ext cx="1810512" cy="1051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1261872"/>
            <a:ext cx="181051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8B7CF6"/>
                </a:solidFill>
                <a:latin typeface="Segoe UI"/>
              </a:rPr>
              <a:t>₹71.9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1783080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6C8"/>
                </a:solidFill>
                <a:latin typeface="Segoe UI"/>
              </a:rPr>
              <a:t>Redeemed-purchase revenue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188720"/>
            <a:ext cx="1810512" cy="1051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261872"/>
            <a:ext cx="181051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4728F"/>
                </a:solidFill>
                <a:latin typeface="Segoe UI"/>
              </a:rPr>
              <a:t>1.52%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783080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6C8"/>
                </a:solidFill>
                <a:latin typeface="Segoe UI"/>
              </a:rPr>
              <a:t>Effective discount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4688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578608"/>
            <a:ext cx="54864" cy="170078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532888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1  Repeat buyers drive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2816352"/>
            <a:ext cx="3383280" cy="1536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56% of buyers, ~84% of revenue </a:t>
            </a:r>
            <a:r>
              <a:rPr sz="1200" b="0">
                <a:solidFill>
                  <a:srgbClr val="E8ECF8"/>
                </a:solidFill>
                <a:latin typeface="Segoe UI"/>
              </a:rPr>
              <a:t>(₹60.1 cr of ₹71.9 cr).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Avg purchase ₹53.9k vs ₹15.8k for new (3.4x).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Redeem rate 70% vs 60%; discount cost 1.31% vs 2.55%.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DD4BF"/>
                </a:solidFill>
                <a:latin typeface="Segoe UI"/>
              </a:rPr>
              <a:t>Action: </a:t>
            </a:r>
            <a:r>
              <a:rPr sz="1200" b="0">
                <a:solidFill>
                  <a:srgbClr val="E8ECF8"/>
                </a:solidFill>
                <a:latin typeface="Segoe UI"/>
              </a:rPr>
              <a:t>push the 2nd purchase.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24688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2578608"/>
            <a:ext cx="54864" cy="1700784"/>
          </a:xfrm>
          <a:prstGeom prst="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6824" y="2532888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B342"/>
                </a:solidFill>
                <a:latin typeface="Segoe UI"/>
              </a:rPr>
              <a:t>2  Points sit with non-buyers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2816352"/>
            <a:ext cx="3383280" cy="1536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~9.8M of 17.1M points (57%) </a:t>
            </a:r>
            <a:r>
              <a:rPr sz="1200" b="0">
                <a:solidFill>
                  <a:srgbClr val="E8ECF8"/>
                </a:solidFill>
                <a:latin typeface="Segoe UI"/>
              </a:rPr>
              <a:t>are held by the 71.5% of participants with no matched purchase.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Large unredeemed liability and the biggest conversion opportunity.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5B342"/>
                </a:solidFill>
                <a:latin typeface="Segoe UI"/>
              </a:rPr>
              <a:t>Action: </a:t>
            </a:r>
            <a:r>
              <a:rPr sz="1200" b="0">
                <a:solidFill>
                  <a:srgbClr val="E8ECF8"/>
                </a:solidFill>
                <a:latin typeface="Segoe UI"/>
              </a:rPr>
              <a:t>"points waiting" nudges, expiry rule.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262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636008"/>
            <a:ext cx="54864" cy="1700784"/>
          </a:xfrm>
          <a:prstGeom prst="rect">
            <a:avLst/>
          </a:prstGeom>
          <a:solidFill>
            <a:srgbClr val="F47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590288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4728F"/>
                </a:solidFill>
                <a:latin typeface="Segoe UI"/>
              </a:rPr>
              <a:t>3  Retention cliff after month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873752"/>
            <a:ext cx="3383280" cy="1536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Only 12-23% return in month 1 </a:t>
            </a:r>
            <a:r>
              <a:rPr sz="1200" b="0">
                <a:solidFill>
                  <a:srgbClr val="E8ECF8"/>
                </a:solidFill>
                <a:latin typeface="Segoe UI"/>
              </a:rPr>
              <a:t>(Jan 22.7%, Feb-Aug 12-16%), then flat at ~9-20%.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About 1 in 5 buyers sticks around.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4728F"/>
                </a:solidFill>
                <a:latin typeface="Segoe UI"/>
              </a:rPr>
              <a:t>Action: </a:t>
            </a:r>
            <a:r>
              <a:rPr sz="1200" b="0">
                <a:solidFill>
                  <a:srgbClr val="E8ECF8"/>
                </a:solidFill>
                <a:latin typeface="Segoe UI"/>
              </a:rPr>
              <a:t>day 20-30 re-engagement offer after first purchase.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45262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60520" y="4636008"/>
            <a:ext cx="54864" cy="1700784"/>
          </a:xfrm>
          <a:prstGeom prst="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4590288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8B7CF6"/>
                </a:solidFill>
                <a:latin typeface="Segoe UI"/>
              </a:rPr>
              <a:t>4  Bigger baskets, lighter redemption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6824" y="4873752"/>
            <a:ext cx="3383280" cy="1536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First-month avg purchase: </a:t>
            </a:r>
            <a:r>
              <a:rPr sz="1200" b="1">
                <a:solidFill>
                  <a:srgbClr val="E8ECF8"/>
                </a:solidFill>
                <a:latin typeface="Segoe UI"/>
              </a:rPr>
              <a:t>₹11.5k (Jan) to ₹30-35k (May-Aug).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Points redeemed vs revenue: 4.2% (Jan) to 0.15% (Jun).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Retained users also grow: Jan cohort ₹11.5k to ₹27.6k by month 8.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79" y="2468880"/>
            <a:ext cx="3776472" cy="3977639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2542032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Segoe UI"/>
              </a:rPr>
              <a:t>Month-1 retention by cohort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816352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9AA6C8"/>
                </a:solidFill>
                <a:latin typeface="Segoe UI"/>
              </a:rPr>
              <a:t>% of first-purchase cohort buying again next month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8046720" y="3108960"/>
          <a:ext cx="36118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8ECF8"/>
                </a:solidFill>
                <a:latin typeface="Segoe UI"/>
              </a:rPr>
              <a:t>Audience, Growth &amp;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601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AA6C8"/>
                </a:solidFill>
                <a:latin typeface="Segoe UI"/>
              </a:rPr>
              <a:t>Who the customers are, where growth stands, what to fix and what to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918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6C8"/>
                </a:solidFill>
                <a:latin typeface="Segoe UI"/>
              </a:rPr>
              <a:t>REFER &amp; EARN  |  2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43584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Segoe UI"/>
              </a:rPr>
              <a:t>Top districts (% of customers)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508760"/>
          <a:ext cx="36576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88620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941063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Segoe UI"/>
              </a:rPr>
              <a:t>Age distribution (% of users)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4206240"/>
          <a:ext cx="365760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389120" y="11887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98448"/>
            <a:ext cx="54864" cy="17465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25272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Sign-ups: spike, then campaign-led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474720" cy="1581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Jan-Feb = ~61% of all sign-ups (17 Jan alone: 9,527).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May low ~48/day; Aug rebound ~203/day (4x) with campaigns.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Oct ~120/day and drifting down </a:t>
            </a:r>
            <a:r>
              <a:rPr sz="1200" b="0">
                <a:solidFill>
                  <a:srgbClr val="E8ECF8"/>
                </a:solidFill>
                <a:latin typeface="Segoe UI"/>
              </a:rPr>
              <a:t>(last 3 days 100-117).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9184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401568"/>
            <a:ext cx="54864" cy="1335024"/>
          </a:xfrm>
          <a:prstGeom prst="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335584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8B7CF6"/>
                </a:solidFill>
                <a:latin typeface="Segoe UI"/>
              </a:rPr>
              <a:t>Young, North-Kerala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639312"/>
            <a:ext cx="3474720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17-30 yrs = ~64% of users; 21-25 is the largest band (27.3%).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Kozhikode + Malappuram + Kannur = ~73%; out-of-state ~0.5%.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98348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5093208"/>
            <a:ext cx="54864" cy="1243584"/>
          </a:xfrm>
          <a:prstGeom prst="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504748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B342"/>
                </a:solidFill>
                <a:latin typeface="Segoe UI"/>
              </a:rPr>
              <a:t>Expansion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5330952"/>
            <a:ext cx="3474720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Ernakulam (3.6%) and Thiruvananthapuram (3.1%) are under-penetrated.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5B342"/>
                </a:solidFill>
                <a:latin typeface="Segoe UI"/>
              </a:rPr>
              <a:t>Action: </a:t>
            </a:r>
            <a:r>
              <a:rPr sz="1200" b="0">
                <a:solidFill>
                  <a:srgbClr val="E8ECF8"/>
                </a:solidFill>
                <a:latin typeface="Segoe UI"/>
              </a:rPr>
              <a:t>pilot a campaign in both districts.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18872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298448"/>
            <a:ext cx="54864" cy="2523744"/>
          </a:xfrm>
          <a:prstGeom prst="rect">
            <a:avLst/>
          </a:prstGeom>
          <a:solidFill>
            <a:srgbClr val="F47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1252728"/>
            <a:ext cx="32278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4728F"/>
                </a:solidFill>
                <a:latin typeface="Segoe UI"/>
              </a:rPr>
              <a:t>Data quality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1536192"/>
            <a:ext cx="3227832" cy="2359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Default DOBs: </a:t>
            </a:r>
            <a:r>
              <a:rPr sz="1200" b="0">
                <a:solidFill>
                  <a:srgbClr val="E8ECF8"/>
                </a:solidFill>
                <a:latin typeface="Segoe UI"/>
              </a:rPr>
              <a:t>Jan = 21% of birthdays, 23% of anniversaries (expected ~8%); May also high.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Missing sales: </a:t>
            </a:r>
            <a:r>
              <a:rPr sz="1200" b="0">
                <a:solidFill>
                  <a:srgbClr val="E8ECF8"/>
                </a:solidFill>
                <a:latin typeface="Segoe UI"/>
              </a:rPr>
              <a:t>22-29 Sep gap; Sep cohort partial, so Sep/Oct conversion is understated.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Jan gap: </a:t>
            </a:r>
            <a:r>
              <a:rPr sz="1200" b="0">
                <a:solidFill>
                  <a:srgbClr val="E8ECF8"/>
                </a:solidFill>
                <a:latin typeface="Segoe UI"/>
              </a:rPr>
              <a:t>19-22 Jan sign-ups only 2-9/day.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8ECF8"/>
                </a:solidFill>
                <a:latin typeface="Segoe UI"/>
              </a:rPr>
              <a:t>Age: </a:t>
            </a:r>
            <a:r>
              <a:rPr sz="1200" b="0">
                <a:solidFill>
                  <a:srgbClr val="E8ECF8"/>
                </a:solidFill>
                <a:latin typeface="Segoe UI"/>
              </a:rPr>
              <a:t>2,865 users in 0-10 band (invalid DOBs).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069080"/>
            <a:ext cx="3456432" cy="23774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9525">
            <a:solidFill>
              <a:srgbClr val="2A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4178808"/>
            <a:ext cx="54864" cy="215798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4133088"/>
            <a:ext cx="32278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Quick wins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4416552"/>
            <a:ext cx="3227832" cy="1993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1.  Oct birthday offers (7,286) and anniversary offers (2,327), excluding placeholder dates.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2.  Day 20-30 re-engagement for every new buyer.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3.  Target 9.8M points held by non-buyers.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CF8"/>
                </a:solidFill>
                <a:latin typeface="Segoe UI"/>
              </a:rPr>
              <a:t>4.  Pilot Ernakulam and Thiruvananthapuram.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